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E0D"/>
          </a:solidFill>
          <a:ln w="12700">
            <a:solidFill>
              <a:srgbClr val="0D2E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A5C1A"/>
          </a:solidFill>
          <a:ln w="12700">
            <a:solidFill>
              <a:srgbClr val="1A5C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103120"/>
            <a:ext cx="164592" cy="18288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54864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300" kern="0" dirty="0">
                <a:solidFill>
                  <a:srgbClr val="FFFFFF"/>
                </a:solidFill>
              </a:rPr>
              <a:t>SMART AGRO ROVER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DDAA"/>
                </a:solidFill>
              </a:rPr>
              <a:t>Autonomous Soil Monitoring &amp; Navigation System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057400"/>
            <a:ext cx="5303520" cy="0"/>
          </a:xfrm>
          <a:prstGeom prst="line">
            <a:avLst/>
          </a:prstGeom>
          <a:noFill/>
          <a:ln w="31750">
            <a:solidFill>
              <a:srgbClr val="D4A0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286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CC99"/>
                </a:solidFill>
              </a:rPr>
              <a:t>Final Year Engineering Project  ·  2026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834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017"/>
                </a:solidFill>
              </a:rPr>
              <a:t>Team Members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320040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CCEECC"/>
                </a:solidFill>
              </a:rPr>
              <a:t>Member 1  ·  Member 2  ·  Member 3  ·  Member 4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CCEECC"/>
                </a:solidFill>
              </a:rPr>
              <a:t>Supervisor: [Supervisor Name]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0" y="4572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🌱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217920" y="12801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Under $200
</a:t>
            </a:r>
            <a:endParaRPr lang="en-US" sz="20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Budget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583680" y="2286000"/>
            <a:ext cx="1828800" cy="0"/>
          </a:xfrm>
          <a:prstGeom prst="line">
            <a:avLst/>
          </a:prstGeom>
          <a:noFill/>
          <a:ln w="12700">
            <a:solidFill>
              <a:srgbClr val="5A9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24688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207
</a:t>
            </a:r>
            <a:endParaRPr lang="en-US" sz="20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Tests Passing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583680" y="3474720"/>
            <a:ext cx="1828800" cy="0"/>
          </a:xfrm>
          <a:prstGeom prst="line">
            <a:avLst/>
          </a:prstGeom>
          <a:noFill/>
          <a:ln w="12700">
            <a:solidFill>
              <a:srgbClr val="5A9A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35661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12
</a:t>
            </a:r>
            <a:endParaRPr lang="en-US" sz="20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Project Phases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C1A"/>
          </a:solidFill>
          <a:ln w="12700">
            <a:solidFill>
              <a:srgbClr val="1A5C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PRESENTATION OUTLINE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206240" cy="676656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78408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78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32688" y="868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0D2E0D"/>
                </a:solidFill>
              </a:rPr>
              <a:t>Problem Statement &amp; Background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32688" y="12344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55555"/>
                </a:solidFill>
              </a:rPr>
              <a:t>Africa farming challenge + motivation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1664208"/>
            <a:ext cx="4206240" cy="676656"/>
          </a:xfrm>
          <a:prstGeom prst="rect">
            <a:avLst/>
          </a:prstGeom>
          <a:solidFill>
            <a:srgbClr val="F0FAF0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773936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773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32688" y="166420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0D2E0D"/>
                </a:solidFill>
              </a:rPr>
              <a:t>Literature Review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32688" y="202996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55555"/>
                </a:solidFill>
              </a:rPr>
              <a:t>5 papers · gaps identified · years cited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459736"/>
            <a:ext cx="4206240" cy="676656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569464"/>
            <a:ext cx="457200" cy="457200"/>
          </a:xfrm>
          <a:prstGeom prst="ellipse">
            <a:avLst/>
          </a:prstGeom>
          <a:solidFill>
            <a:srgbClr val="1A5C1A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569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32688" y="245973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0D2E0D"/>
                </a:solidFill>
              </a:rPr>
              <a:t>Research Gap &amp; Objectives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32688" y="282549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55555"/>
                </a:solidFill>
              </a:rPr>
              <a:t>What existing work misses · our targets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255264"/>
            <a:ext cx="4206240" cy="676656"/>
          </a:xfrm>
          <a:prstGeom prst="rect">
            <a:avLst/>
          </a:prstGeom>
          <a:solidFill>
            <a:srgbClr val="F0FAF0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364992"/>
            <a:ext cx="457200" cy="457200"/>
          </a:xfrm>
          <a:prstGeom prst="ellipse">
            <a:avLst/>
          </a:prstGeom>
          <a:solidFill>
            <a:srgbClr val="1A5C1A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3364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32688" y="325526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0D2E0D"/>
                </a:solidFill>
              </a:rPr>
              <a:t>System Architecture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32688" y="362102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55555"/>
                </a:solidFill>
              </a:rPr>
              <a:t>Dual-controller design rationale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4050792"/>
            <a:ext cx="4206240" cy="676656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4160520"/>
            <a:ext cx="457200" cy="457200"/>
          </a:xfrm>
          <a:prstGeom prst="ellipse">
            <a:avLst/>
          </a:prstGeom>
          <a:solidFill>
            <a:srgbClr val="1A5C1A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32688" y="405079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0D2E0D"/>
                </a:solidFill>
              </a:rPr>
              <a:t>Hardware Schematic &amp; BOM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32688" y="44165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55555"/>
                </a:solidFill>
              </a:rPr>
              <a:t>Components · connections · $195 budget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868680"/>
            <a:ext cx="4206240" cy="676656"/>
          </a:xfrm>
          <a:prstGeom prst="rect">
            <a:avLst/>
          </a:prstGeom>
          <a:solidFill>
            <a:srgbClr val="F0FAF0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0" y="978408"/>
            <a:ext cx="457200" cy="457200"/>
          </a:xfrm>
          <a:prstGeom prst="ellipse">
            <a:avLst/>
          </a:prstGeom>
          <a:solidFill>
            <a:srgbClr val="1A5C1A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978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13248" y="868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0D2E0D"/>
                </a:solidFill>
              </a:rPr>
              <a:t>Sensor Suite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13248" y="12344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55555"/>
                </a:solidFill>
              </a:rPr>
              <a:t>7 sensors · specifications · pin mapping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54880" y="1664208"/>
            <a:ext cx="4206240" cy="676656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46320" y="1773936"/>
            <a:ext cx="457200" cy="457200"/>
          </a:xfrm>
          <a:prstGeom prst="ellipse">
            <a:avLst/>
          </a:prstGeom>
          <a:solidFill>
            <a:srgbClr val="2D7D2D"/>
          </a:solidFill>
          <a:ln/>
        </p:spPr>
      </p:sp>
      <p:sp>
        <p:nvSpPr>
          <p:cNvPr id="37" name="Text 35"/>
          <p:cNvSpPr/>
          <p:nvPr/>
        </p:nvSpPr>
        <p:spPr>
          <a:xfrm>
            <a:off x="4846320" y="1773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13248" y="166420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0D2E0D"/>
                </a:solidFill>
              </a:rPr>
              <a:t>Software &amp; Navigation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413248" y="202996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55555"/>
                </a:solidFill>
              </a:rPr>
              <a:t>Firmware · mission logic · data pipeline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54880" y="2459736"/>
            <a:ext cx="4206240" cy="676656"/>
          </a:xfrm>
          <a:prstGeom prst="rect">
            <a:avLst/>
          </a:prstGeom>
          <a:solidFill>
            <a:srgbClr val="F0FAF0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46320" y="2569464"/>
            <a:ext cx="457200" cy="457200"/>
          </a:xfrm>
          <a:prstGeom prst="ellipse">
            <a:avLst/>
          </a:prstGeom>
          <a:solidFill>
            <a:srgbClr val="2D7D2D"/>
          </a:solidFill>
          <a:ln/>
        </p:spPr>
      </p:sp>
      <p:sp>
        <p:nvSpPr>
          <p:cNvPr id="42" name="Text 40"/>
          <p:cNvSpPr/>
          <p:nvPr/>
        </p:nvSpPr>
        <p:spPr>
          <a:xfrm>
            <a:off x="4846320" y="2569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08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413248" y="245973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0D2E0D"/>
                </a:solidFill>
              </a:rPr>
              <a:t>Simulation &amp; Validation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413248" y="282549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55555"/>
                </a:solidFill>
              </a:rPr>
              <a:t>Wokwi · Webots · 207 automated tests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754880" y="3255264"/>
            <a:ext cx="4206240" cy="676656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846320" y="3364992"/>
            <a:ext cx="457200" cy="457200"/>
          </a:xfrm>
          <a:prstGeom prst="ellipse">
            <a:avLst/>
          </a:prstGeom>
          <a:solidFill>
            <a:srgbClr val="2D7D2D"/>
          </a:solidFill>
          <a:ln/>
        </p:spPr>
      </p:sp>
      <p:sp>
        <p:nvSpPr>
          <p:cNvPr id="47" name="Text 45"/>
          <p:cNvSpPr/>
          <p:nvPr/>
        </p:nvSpPr>
        <p:spPr>
          <a:xfrm>
            <a:off x="4846320" y="3364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09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413248" y="325526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0D2E0D"/>
                </a:solidFill>
              </a:rPr>
              <a:t>Dashboard &amp; Results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413248" y="362102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55555"/>
                </a:solidFill>
              </a:rPr>
              <a:t>Flask UI · live monitoring · field data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754880" y="4050792"/>
            <a:ext cx="4206240" cy="676656"/>
          </a:xfrm>
          <a:prstGeom prst="rect">
            <a:avLst/>
          </a:prstGeom>
          <a:solidFill>
            <a:srgbClr val="F0FAF0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846320" y="4160520"/>
            <a:ext cx="457200" cy="457200"/>
          </a:xfrm>
          <a:prstGeom prst="ellipse">
            <a:avLst/>
          </a:prstGeom>
          <a:solidFill>
            <a:srgbClr val="2D7D2D"/>
          </a:solidFill>
          <a:ln/>
        </p:spPr>
      </p:sp>
      <p:sp>
        <p:nvSpPr>
          <p:cNvPr id="52" name="Text 50"/>
          <p:cNvSpPr/>
          <p:nvPr/>
        </p:nvSpPr>
        <p:spPr>
          <a:xfrm>
            <a:off x="484632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413248" y="405079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0D2E0D"/>
                </a:solidFill>
              </a:rPr>
              <a:t>Summary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413248" y="44165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55555"/>
                </a:solidFill>
              </a:rPr>
              <a:t>Gap addressed · achievements · future work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2 / 12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27432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</a:rPr>
              <a:t>Smart Agro Rover  |  2026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PROBLEM STATEMENT &amp; BACKGROUND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3931920" cy="3977640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841248"/>
            <a:ext cx="54864" cy="411480"/>
          </a:xfrm>
          <a:prstGeom prst="rect">
            <a:avLst/>
          </a:prstGeom>
          <a:solidFill>
            <a:srgbClr val="1A5C1A"/>
          </a:solidFill>
          <a:ln w="12700">
            <a:solidFill>
              <a:srgbClr val="1A5C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9496" y="84124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C1A"/>
                </a:solidFill>
              </a:rPr>
              <a:t>African Agriculture Context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1325880"/>
            <a:ext cx="1005840" cy="5486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32588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33M+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08760" y="13716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Smallholder farmers 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sub-Saharan Africa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130552"/>
            <a:ext cx="1005840" cy="54864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213055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70%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08760" y="217627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of Africa's food produced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by smallholder farmers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935224"/>
            <a:ext cx="1005840" cy="5486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2935224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&lt; 3%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08760" y="2980944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use any form of precision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agriculture technology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3739896"/>
            <a:ext cx="1005840" cy="54864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3739896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40%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08760" y="3785616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average crop loss due 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late disease detection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4480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5555"/>
                </a:solidFill>
              </a:rPr>
              <a:t>Ghana: cocoa, maize &amp; yam farmers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555555"/>
                </a:solidFill>
              </a:rPr>
              <a:t>rely entirely on manual monitoring.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434840" y="822960"/>
            <a:ext cx="4434840" cy="1828800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841248"/>
            <a:ext cx="54864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0016" y="84124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</a:rPr>
              <a:t>The Problem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617720" y="1325880"/>
            <a:ext cx="201168" cy="20116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12984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Crops inspected manually — slow, expensive, error-prone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17720" y="1673352"/>
            <a:ext cx="201168" cy="20116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16459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Disease and drought detected only when visible damage occurs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17720" y="2020824"/>
            <a:ext cx="201168" cy="20116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9" name="Text 27"/>
          <p:cNvSpPr/>
          <p:nvPr/>
        </p:nvSpPr>
        <p:spPr>
          <a:xfrm>
            <a:off x="4892040" y="19933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Uniform irrigation applied regardless of actual soil conditions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17720" y="2368296"/>
            <a:ext cx="201168" cy="20116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234086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No affordable automated monitoring tool for small farms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434840" y="2834640"/>
            <a:ext cx="4434840" cy="1463040"/>
          </a:xfrm>
          <a:prstGeom prst="rect">
            <a:avLst/>
          </a:prstGeom>
          <a:solidFill>
            <a:srgbClr val="E8F5E9"/>
          </a:solidFill>
          <a:ln w="19050">
            <a:solidFill>
              <a:srgbClr val="1A5C1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0" y="2862072"/>
            <a:ext cx="54864" cy="411480"/>
          </a:xfrm>
          <a:prstGeom prst="rect">
            <a:avLst/>
          </a:prstGeom>
          <a:solidFill>
            <a:srgbClr val="1A5C1A"/>
          </a:solidFill>
          <a:ln w="12700">
            <a:solidFill>
              <a:srgbClr val="1A5C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0016" y="286207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C1A"/>
                </a:solidFill>
              </a:rPr>
              <a:t>Our Solution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72000" y="3273552"/>
            <a:ext cx="4160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0D2E0D"/>
                </a:solidFill>
              </a:rPr>
              <a:t>An autonomous 4WD rover that continuously surveys farmland, collects georeferenced soil and environmental data, detects obstacles, and delivers real-time insights through a web dashboard — all for under $200.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3 / 12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7432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</a:rPr>
              <a:t>Smart Agro Rover  |  2026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C1A"/>
          </a:solidFill>
          <a:ln w="12700">
            <a:solidFill>
              <a:srgbClr val="1A5C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LITERATURE REVIEW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76072" y="749808"/>
            <a:ext cx="1828800" cy="347472"/>
          </a:xfrm>
          <a:prstGeom prst="rect">
            <a:avLst/>
          </a:prstGeom>
          <a:solidFill>
            <a:srgbClr val="2D7D2D"/>
          </a:solidFill>
          <a:ln/>
        </p:spPr>
      </p:sp>
      <p:sp>
        <p:nvSpPr>
          <p:cNvPr id="6" name="Text 4"/>
          <p:cNvSpPr/>
          <p:nvPr/>
        </p:nvSpPr>
        <p:spPr>
          <a:xfrm>
            <a:off x="576072" y="7498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Paper &amp; Authors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404872" y="749808"/>
            <a:ext cx="914400" cy="347472"/>
          </a:xfrm>
          <a:prstGeom prst="rect">
            <a:avLst/>
          </a:prstGeom>
          <a:solidFill>
            <a:srgbClr val="2D7D2D"/>
          </a:solidFill>
          <a:ln/>
        </p:spPr>
      </p:sp>
      <p:sp>
        <p:nvSpPr>
          <p:cNvPr id="8" name="Text 6"/>
          <p:cNvSpPr/>
          <p:nvPr/>
        </p:nvSpPr>
        <p:spPr>
          <a:xfrm>
            <a:off x="2404872" y="74980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Year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19272" y="749808"/>
            <a:ext cx="2194560" cy="347472"/>
          </a:xfrm>
          <a:prstGeom prst="rect">
            <a:avLst/>
          </a:prstGeom>
          <a:solidFill>
            <a:srgbClr val="2D7D2D"/>
          </a:solidFill>
          <a:ln/>
        </p:spPr>
      </p:sp>
      <p:sp>
        <p:nvSpPr>
          <p:cNvPr id="10" name="Text 8"/>
          <p:cNvSpPr/>
          <p:nvPr/>
        </p:nvSpPr>
        <p:spPr>
          <a:xfrm>
            <a:off x="3319272" y="7498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Key Contribution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513832" y="749808"/>
            <a:ext cx="2331720" cy="347472"/>
          </a:xfrm>
          <a:prstGeom prst="rect">
            <a:avLst/>
          </a:prstGeom>
          <a:solidFill>
            <a:srgbClr val="2D7D2D"/>
          </a:solidFill>
          <a:ln/>
        </p:spPr>
      </p:sp>
      <p:sp>
        <p:nvSpPr>
          <p:cNvPr id="12" name="Text 10"/>
          <p:cNvSpPr/>
          <p:nvPr/>
        </p:nvSpPr>
        <p:spPr>
          <a:xfrm>
            <a:off x="5513832" y="74980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Gap Identified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" y="749808"/>
            <a:ext cx="347472" cy="347472"/>
          </a:xfrm>
          <a:prstGeom prst="rect">
            <a:avLst/>
          </a:prstGeom>
          <a:solidFill>
            <a:srgbClr val="0D2E0D"/>
          </a:solidFill>
          <a:ln/>
        </p:spPr>
      </p:sp>
      <p:sp>
        <p:nvSpPr>
          <p:cNvPr id="14" name="Text 12"/>
          <p:cNvSpPr/>
          <p:nvPr/>
        </p:nvSpPr>
        <p:spPr>
          <a:xfrm>
            <a:off x="228600" y="749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#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8600" y="1161288"/>
            <a:ext cx="347472" cy="694944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161288"/>
            <a:ext cx="1828800" cy="694944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04872" y="1161288"/>
            <a:ext cx="914400" cy="694944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19272" y="1161288"/>
            <a:ext cx="2194560" cy="694944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13832" y="1161288"/>
            <a:ext cx="2331720" cy="694944"/>
          </a:xfrm>
          <a:prstGeom prst="rect">
            <a:avLst/>
          </a:prstGeom>
          <a:solidFill>
            <a:srgbClr val="FDECEA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1161288"/>
            <a:ext cx="3474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5C1A"/>
                </a:solidFill>
              </a:rPr>
              <a:t>[1]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4360" y="1161288"/>
            <a:ext cx="1792224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Kitić et al.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Agrobot Lala, MDPI Sensors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423160" y="1161288"/>
            <a:ext cx="8778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5C1A"/>
                </a:solidFill>
              </a:rPr>
              <a:t>2022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37560" y="1161288"/>
            <a:ext cx="2157984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Autonomous UGV, GPS waypoints, real-time nitrate soil analysis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532120" y="1161288"/>
            <a:ext cx="2295144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0392B"/>
                </a:solidFill>
              </a:rPr>
              <a:t>~$20,000 cost. Requires wet chemistry lab. Not scalable to small farms.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" y="1911096"/>
            <a:ext cx="347472" cy="694944"/>
          </a:xfrm>
          <a:prstGeom prst="rect">
            <a:avLst/>
          </a:prstGeom>
          <a:solidFill>
            <a:srgbClr val="F0FAF0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6072" y="1911096"/>
            <a:ext cx="1828800" cy="694944"/>
          </a:xfrm>
          <a:prstGeom prst="rect">
            <a:avLst/>
          </a:prstGeom>
          <a:solidFill>
            <a:srgbClr val="F0FAF0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404872" y="1911096"/>
            <a:ext cx="914400" cy="694944"/>
          </a:xfrm>
          <a:prstGeom prst="rect">
            <a:avLst/>
          </a:prstGeom>
          <a:solidFill>
            <a:srgbClr val="F0FAF0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19272" y="1911096"/>
            <a:ext cx="2194560" cy="694944"/>
          </a:xfrm>
          <a:prstGeom prst="rect">
            <a:avLst/>
          </a:prstGeom>
          <a:solidFill>
            <a:srgbClr val="F0FAF0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13832" y="1911096"/>
            <a:ext cx="2331720" cy="694944"/>
          </a:xfrm>
          <a:prstGeom prst="rect">
            <a:avLst/>
          </a:prstGeom>
          <a:solidFill>
            <a:srgbClr val="FFF5F5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" y="1911096"/>
            <a:ext cx="3474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5C1A"/>
                </a:solidFill>
              </a:rPr>
              <a:t>[2]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4360" y="1911096"/>
            <a:ext cx="1792224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NotBlackMagic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AutoSQA, Hackster.io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423160" y="1911096"/>
            <a:ext cx="8778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5C1A"/>
                </a:solidFill>
              </a:rPr>
              <a:t>2023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337560" y="1911096"/>
            <a:ext cx="2157984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Low-cost rover, BME688 sensor suite, autonomous field survey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532120" y="1911096"/>
            <a:ext cx="2295144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0392B"/>
                </a:solidFill>
              </a:rPr>
              <a:t>Uses ROS 2 + expensive NXP NavQPlus. No offline mode.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28600" y="2660904"/>
            <a:ext cx="347472" cy="694944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76072" y="2660904"/>
            <a:ext cx="1828800" cy="694944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04872" y="2660904"/>
            <a:ext cx="914400" cy="694944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319272" y="2660904"/>
            <a:ext cx="2194560" cy="694944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513832" y="2660904"/>
            <a:ext cx="2331720" cy="694944"/>
          </a:xfrm>
          <a:prstGeom prst="rect">
            <a:avLst/>
          </a:prstGeom>
          <a:solidFill>
            <a:srgbClr val="FDECEA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8600" y="2660904"/>
            <a:ext cx="3474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5C1A"/>
                </a:solidFill>
              </a:rPr>
              <a:t>[3]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94360" y="2660904"/>
            <a:ext cx="1792224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Levoir et al.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RoboNav, MDPI Robotics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423160" y="2660904"/>
            <a:ext cx="8778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5C1A"/>
                </a:solidFill>
              </a:rPr>
              <a:t>2022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337560" y="2660904"/>
            <a:ext cx="2157984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u-blox GPS + IMU fusion, 0.2m waypoint accuracy in vineyard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532120" y="2660904"/>
            <a:ext cx="2295144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0392B"/>
                </a:solidFill>
              </a:rPr>
              <a:t>Navigation only — no soil or environmental sensors integrated.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28600" y="3410712"/>
            <a:ext cx="347472" cy="694944"/>
          </a:xfrm>
          <a:prstGeom prst="rect">
            <a:avLst/>
          </a:prstGeom>
          <a:solidFill>
            <a:srgbClr val="F0FAF0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76072" y="3410712"/>
            <a:ext cx="1828800" cy="694944"/>
          </a:xfrm>
          <a:prstGeom prst="rect">
            <a:avLst/>
          </a:prstGeom>
          <a:solidFill>
            <a:srgbClr val="F0FAF0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404872" y="3410712"/>
            <a:ext cx="914400" cy="694944"/>
          </a:xfrm>
          <a:prstGeom prst="rect">
            <a:avLst/>
          </a:prstGeom>
          <a:solidFill>
            <a:srgbClr val="F0FAF0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319272" y="3410712"/>
            <a:ext cx="2194560" cy="694944"/>
          </a:xfrm>
          <a:prstGeom prst="rect">
            <a:avLst/>
          </a:prstGeom>
          <a:solidFill>
            <a:srgbClr val="F0FAF0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513832" y="3410712"/>
            <a:ext cx="2331720" cy="694944"/>
          </a:xfrm>
          <a:prstGeom prst="rect">
            <a:avLst/>
          </a:prstGeom>
          <a:solidFill>
            <a:srgbClr val="FFF5F5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28600" y="3410712"/>
            <a:ext cx="3474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5C1A"/>
                </a:solidFill>
              </a:rPr>
              <a:t>[4]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94360" y="3410712"/>
            <a:ext cx="1792224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Hernanda et al.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MDPI AgriEngineering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423160" y="3410712"/>
            <a:ext cx="8778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5C1A"/>
                </a:solidFill>
              </a:rPr>
              <a:t>2024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3337560" y="3410712"/>
            <a:ext cx="2157984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Dual-Arduino + Jetson Nano, GPS-RTK, IMU serial link at 10 Hz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532120" y="3410712"/>
            <a:ext cx="2295144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0392B"/>
                </a:solidFill>
              </a:rPr>
              <a:t>Requires RTK-GPS ($500+) and ROS infrastructure. High cost.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28600" y="4160520"/>
            <a:ext cx="347472" cy="694944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76072" y="4160520"/>
            <a:ext cx="1828800" cy="694944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404872" y="4160520"/>
            <a:ext cx="914400" cy="694944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319272" y="4160520"/>
            <a:ext cx="2194560" cy="694944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513832" y="4160520"/>
            <a:ext cx="2331720" cy="694944"/>
          </a:xfrm>
          <a:prstGeom prst="rect">
            <a:avLst/>
          </a:prstGeom>
          <a:solidFill>
            <a:srgbClr val="FDECEA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28600" y="4160520"/>
            <a:ext cx="3474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5C1A"/>
                </a:solidFill>
              </a:rPr>
              <a:t>[5]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594360" y="4160520"/>
            <a:ext cx="1792224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Das et al.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PLOS ONE, BRAC Univ.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2423160" y="4160520"/>
            <a:ext cx="8778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5C1A"/>
                </a:solidFill>
              </a:rPr>
              <a:t>2024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3337560" y="4160520"/>
            <a:ext cx="2157984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4WD Pi rover + soil sensors + Pi Camera + YOLOv5 (85% precision)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532120" y="4160520"/>
            <a:ext cx="2295144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0392B"/>
                </a:solidFill>
              </a:rPr>
              <a:t>Designed for vegetable harvesting only. No soil mapping or GPS nav.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228600" y="482803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5C1A"/>
                </a:solidFill>
              </a:rPr>
              <a:t>AgroRover addresses ALL five gaps: under $200 · offline · full sensor suite · GPS navigation · no ROS required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4 / 12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27432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</a:rPr>
              <a:t>Smart Agro Rover  |  2026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C1A"/>
          </a:solidFill>
          <a:ln w="12700">
            <a:solidFill>
              <a:srgbClr val="1A5C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RESEARCH GAP &amp; PROJECT OBJECTIVES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114800" cy="4023360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822960"/>
            <a:ext cx="54864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9496" y="822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</a:rPr>
              <a:t>Identified Research Gaps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1280160"/>
            <a:ext cx="256032" cy="25603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12801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!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2801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</a:rPr>
              <a:t>Cost barrier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15544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Existing solutions cost $500–$20,000+. Inaccessible to smallholder farmers in developing nations.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0" y="1938528"/>
            <a:ext cx="256032" cy="25603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0" y="19385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!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19385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</a:rPr>
              <a:t>ROS dependency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2128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Most autonomous agri-robots require ROS, making them complex to deploy in the field.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0" y="2596896"/>
            <a:ext cx="256032" cy="25603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0" y="25968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!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25968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</a:rPr>
              <a:t>No offline mode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287121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Cloud-dependent systems fail in rural areas with poor connectivity.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3255264"/>
            <a:ext cx="256032" cy="25603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0" y="32552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!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32552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</a:rPr>
              <a:t>Sensor + nav split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352958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Papers either focus on navigation OR sensing — rarely both in one affordable system.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3913632"/>
            <a:ext cx="256032" cy="25603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5" name="Text 23"/>
          <p:cNvSpPr/>
          <p:nvPr/>
        </p:nvSpPr>
        <p:spPr>
          <a:xfrm>
            <a:off x="0" y="39136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!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39136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</a:rPr>
              <a:t>No African context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1879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No reviewed solution was designed for West African farming conditions.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804672"/>
            <a:ext cx="4206240" cy="4023360"/>
          </a:xfrm>
          <a:prstGeom prst="rect">
            <a:avLst/>
          </a:prstGeom>
          <a:solidFill>
            <a:srgbClr val="E8F5E9"/>
          </a:solidFill>
          <a:ln w="12700">
            <a:solidFill>
              <a:srgbClr val="1A5C1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00600" y="822960"/>
            <a:ext cx="54864" cy="411480"/>
          </a:xfrm>
          <a:prstGeom prst="rect">
            <a:avLst/>
          </a:prstGeom>
          <a:solidFill>
            <a:srgbClr val="1A5C1A"/>
          </a:solidFill>
          <a:ln w="12700">
            <a:solidFill>
              <a:srgbClr val="1A5C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28616" y="822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C1A"/>
                </a:solidFill>
              </a:rPr>
              <a:t>Project Objectives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800600" y="1316736"/>
            <a:ext cx="256032" cy="256032"/>
          </a:xfrm>
          <a:prstGeom prst="ellipse">
            <a:avLst/>
          </a:prstGeom>
          <a:solidFill>
            <a:srgbClr val="1A5C1A"/>
          </a:solidFill>
          <a:ln/>
        </p:spPr>
      </p:sp>
      <p:sp>
        <p:nvSpPr>
          <p:cNvPr id="32" name="Text 30"/>
          <p:cNvSpPr/>
          <p:nvPr/>
        </p:nvSpPr>
        <p:spPr>
          <a:xfrm>
            <a:off x="4800600" y="13167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166360" y="128016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1A"/>
                </a:solidFill>
              </a:rPr>
              <a:t>Design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166360" y="155448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a sub-$200, dual-controller rover for autonomous soil monitoring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00600" y="1975104"/>
            <a:ext cx="256032" cy="256032"/>
          </a:xfrm>
          <a:prstGeom prst="ellipse">
            <a:avLst/>
          </a:prstGeom>
          <a:solidFill>
            <a:srgbClr val="1A5C1A"/>
          </a:solidFill>
          <a:ln/>
        </p:spPr>
      </p:sp>
      <p:sp>
        <p:nvSpPr>
          <p:cNvPr id="36" name="Text 34"/>
          <p:cNvSpPr/>
          <p:nvPr/>
        </p:nvSpPr>
        <p:spPr>
          <a:xfrm>
            <a:off x="4800600" y="19751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166360" y="193852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1A"/>
                </a:solidFill>
              </a:rPr>
              <a:t>Implement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166360" y="221284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GPS waypoint navigation with obstacle avoidance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00600" y="2633472"/>
            <a:ext cx="256032" cy="256032"/>
          </a:xfrm>
          <a:prstGeom prst="ellipse">
            <a:avLst/>
          </a:prstGeom>
          <a:solidFill>
            <a:srgbClr val="1A5C1A"/>
          </a:solidFill>
          <a:ln/>
        </p:spPr>
      </p:sp>
      <p:sp>
        <p:nvSpPr>
          <p:cNvPr id="40" name="Text 38"/>
          <p:cNvSpPr/>
          <p:nvPr/>
        </p:nvSpPr>
        <p:spPr>
          <a:xfrm>
            <a:off x="4800600" y="26334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166360" y="259689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1A"/>
                </a:solidFill>
              </a:rPr>
              <a:t>Integrate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166360" y="287121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7-sensor payload: moisture, temperature, humidity, pressure, ultrasonic, GPS, IMU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800600" y="3291840"/>
            <a:ext cx="256032" cy="256032"/>
          </a:xfrm>
          <a:prstGeom prst="ellipse">
            <a:avLst/>
          </a:prstGeom>
          <a:solidFill>
            <a:srgbClr val="1A5C1A"/>
          </a:solidFill>
          <a:ln/>
        </p:spPr>
      </p:sp>
      <p:sp>
        <p:nvSpPr>
          <p:cNvPr id="44" name="Text 42"/>
          <p:cNvSpPr/>
          <p:nvPr/>
        </p:nvSpPr>
        <p:spPr>
          <a:xfrm>
            <a:off x="4800600" y="3291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166360" y="325526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1A"/>
                </a:solidFill>
              </a:rPr>
              <a:t>Develop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166360" y="352958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offline-capable data pipeline with Flask dashboard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00600" y="3950208"/>
            <a:ext cx="256032" cy="256032"/>
          </a:xfrm>
          <a:prstGeom prst="ellipse">
            <a:avLst/>
          </a:prstGeom>
          <a:solidFill>
            <a:srgbClr val="1A5C1A"/>
          </a:solidFill>
          <a:ln/>
        </p:spPr>
      </p:sp>
      <p:sp>
        <p:nvSpPr>
          <p:cNvPr id="48" name="Text 46"/>
          <p:cNvSpPr/>
          <p:nvPr/>
        </p:nvSpPr>
        <p:spPr>
          <a:xfrm>
            <a:off x="4800600" y="39502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166360" y="391363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1A"/>
                </a:solidFill>
              </a:rPr>
              <a:t>Validate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166360" y="418795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complete system with 207 automated tests across all layers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5 / 12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27432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</a:rPr>
              <a:t>Smart Agro Rover  |  2026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C1A"/>
          </a:solidFill>
          <a:ln w="12700">
            <a:solidFill>
              <a:srgbClr val="1A5C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SYSTEM ARCHITECTURE — WHY TWO CONTROLLERS?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8686800" cy="411480"/>
          </a:xfrm>
          <a:prstGeom prst="rect">
            <a:avLst/>
          </a:prstGeom>
          <a:solidFill>
            <a:srgbClr val="FFF8E1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0467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3A00"/>
                </a:solidFill>
              </a:rPr>
              <a:t>Gap addressed: Single MCU systems cannot simultaneously handle real-time sensor sampling AND complex navigation logic. Our dual-layer design solves this.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28600" y="1371600"/>
            <a:ext cx="4114800" cy="3246120"/>
          </a:xfrm>
          <a:prstGeom prst="rect">
            <a:avLst/>
          </a:prstGeom>
          <a:solidFill>
            <a:srgbClr val="FFF0F0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371600"/>
            <a:ext cx="4114800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716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🧠  Raspberry Pi 4  — BRAIN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93852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mission.py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94560" y="193852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Autonomous navigation logic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35915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waypoint_nav.py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94560" y="235915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GPS boustrophedon survey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779776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gps_reader.py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94560" y="277977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NEO-6M position + bearing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20040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imu_reader.py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94560" y="32004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MPU-6050 heading / tilt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62102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data_pipeline.py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194560" y="362102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CSV + SQLite data storage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04164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194560" y="404164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Flask dashboard :5000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43400" y="2560320"/>
            <a:ext cx="457200" cy="7772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3" name="Text 21"/>
          <p:cNvSpPr/>
          <p:nvPr/>
        </p:nvSpPr>
        <p:spPr>
          <a:xfrm>
            <a:off x="4343400" y="2633472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⇅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315968" y="3337560"/>
            <a:ext cx="5120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565C0"/>
                </a:solidFill>
              </a:rPr>
              <a:t>UART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565C0"/>
                </a:solidFill>
              </a:rPr>
              <a:t>Serial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565C0"/>
                </a:solidFill>
              </a:rPr>
              <a:t>JSON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565C0"/>
                </a:solidFill>
              </a:rPr>
              <a:t>115200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800600" y="1371600"/>
            <a:ext cx="4114800" cy="3246120"/>
          </a:xfrm>
          <a:prstGeom prst="rect">
            <a:avLst/>
          </a:prstGeom>
          <a:solidFill>
            <a:srgbClr val="E8F0FF"/>
          </a:solidFill>
          <a:ln w="25400">
            <a:solidFill>
              <a:srgbClr val="1565C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00600" y="1371600"/>
            <a:ext cx="411480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13716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⚡  Arduino Nano  — REFLEX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83480" y="19385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rover_firmware.ino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03720" y="193852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Real-time sensor sampling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83480" y="235915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Sensor hub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03720" y="235915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BME280 · DS18B20 · HC-SR04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83480" y="277977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Motor control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903720" y="277977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L298N PWM via D4/D5/D10/D12/D13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83480" y="32004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Encoder reading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903720" y="32004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LM393 × 4 wheels (D3·A2·A3·D11)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983480" y="362102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E-Stop logic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903720" y="362102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Hardware safety interrupt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983480" y="404164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 broadcast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903720" y="404164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Every 500ms to Pi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28600" y="4800600"/>
            <a:ext cx="4389120" cy="274320"/>
          </a:xfrm>
          <a:prstGeom prst="rect">
            <a:avLst/>
          </a:prstGeom>
          <a:solidFill>
            <a:srgbClr val="FFF8E1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1752" y="48006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A4000"/>
                </a:solidFill>
              </a:rPr>
              <a:t>[1] Kitić et al. 2022 — Dual MCU+SBC architecture validated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00600" y="4800600"/>
            <a:ext cx="4114800" cy="274320"/>
          </a:xfrm>
          <a:prstGeom prst="rect">
            <a:avLst/>
          </a:prstGeom>
          <a:solidFill>
            <a:srgbClr val="FFF8E1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73752" y="48006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A4000"/>
                </a:solidFill>
              </a:rPr>
              <a:t>[4] Hernanda et al. 2024 — Arduino + SBC serial at 10 Hz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6 / 12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7432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</a:rPr>
              <a:t>Smart Agro Rover  |  2026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C1A"/>
          </a:solidFill>
          <a:ln w="12700">
            <a:solidFill>
              <a:srgbClr val="1A5C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HARDWARE SCHEMATIC &amp; BILL OF MATERIALS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82880" y="914400"/>
            <a:ext cx="1188720" cy="1005840"/>
          </a:xfrm>
          <a:prstGeom prst="rect">
            <a:avLst/>
          </a:prstGeom>
          <a:solidFill>
            <a:srgbClr val="1A3A6E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91440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LiPo 3S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11.1V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5200mAh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2880" y="2286000"/>
            <a:ext cx="1188720" cy="82296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228600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LM2596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Buck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11.1V→5V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28800" y="1005840"/>
            <a:ext cx="1554480" cy="10058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1828800" y="10058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Raspberry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Pi 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28800" y="2468880"/>
            <a:ext cx="1554480" cy="8229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1828800" y="24688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Arduino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Nano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566160" y="2468880"/>
            <a:ext cx="1371600" cy="822960"/>
          </a:xfrm>
          <a:prstGeom prst="rect">
            <a:avLst/>
          </a:prstGeom>
          <a:solidFill>
            <a:srgbClr val="922B21"/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0" y="24688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L298N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Motor Driver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566160" y="3703320"/>
            <a:ext cx="1371600" cy="685800"/>
          </a:xfrm>
          <a:prstGeom prst="rect">
            <a:avLst/>
          </a:prstGeom>
          <a:solidFill>
            <a:srgbClr val="424242"/>
          </a:solidFill>
          <a:ln/>
        </p:spPr>
      </p:sp>
      <p:sp>
        <p:nvSpPr>
          <p:cNvPr id="16" name="Text 14"/>
          <p:cNvSpPr/>
          <p:nvPr/>
        </p:nvSpPr>
        <p:spPr>
          <a:xfrm>
            <a:off x="3566160" y="37033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4× DC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Motors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371600" y="1371600"/>
            <a:ext cx="457200" cy="0"/>
          </a:xfrm>
          <a:prstGeom prst="line">
            <a:avLst/>
          </a:prstGeom>
          <a:noFill/>
          <a:ln w="3175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77240" y="2121408"/>
            <a:ext cx="0" cy="164592"/>
          </a:xfrm>
          <a:prstGeom prst="line">
            <a:avLst/>
          </a:prstGeom>
          <a:noFill/>
          <a:ln w="3175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371600" y="2834640"/>
            <a:ext cx="457200" cy="0"/>
          </a:xfrm>
          <a:prstGeom prst="line">
            <a:avLst/>
          </a:prstGeom>
          <a:noFill/>
          <a:ln w="3175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1417320" y="129844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5V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606040" y="2029968"/>
            <a:ext cx="0" cy="438912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383280" y="2871216"/>
            <a:ext cx="182880" cy="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2670048" y="2121408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565C0"/>
                </a:solidFill>
              </a:rPr>
              <a:t>UART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401568" y="2798064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565C0"/>
                </a:solidFill>
              </a:rPr>
              <a:t>PWM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5212080" y="914400"/>
            <a:ext cx="1325880" cy="658368"/>
          </a:xfrm>
          <a:prstGeom prst="rect">
            <a:avLst/>
          </a:prstGeom>
          <a:solidFill>
            <a:srgbClr val="F5F5F5"/>
          </a:solidFill>
          <a:ln w="19050">
            <a:solidFill>
              <a:srgbClr val="9C27B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0" y="914400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BME280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I²C A4/A5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212080" y="1243584"/>
            <a:ext cx="-137160" cy="0"/>
          </a:xfrm>
          <a:prstGeom prst="line">
            <a:avLst/>
          </a:prstGeom>
          <a:noFill/>
          <a:ln w="12700">
            <a:solidFill>
              <a:srgbClr val="9C27B0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5212080" y="1783080"/>
            <a:ext cx="1325880" cy="658368"/>
          </a:xfrm>
          <a:prstGeom prst="rect">
            <a:avLst/>
          </a:prstGeom>
          <a:solidFill>
            <a:srgbClr val="F5F5F5"/>
          </a:solidFill>
          <a:ln w="19050">
            <a:solidFill>
              <a:srgbClr val="0288D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12080" y="1783080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DS18B20 ×2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1-Wire D2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212080" y="2112264"/>
            <a:ext cx="-137160" cy="0"/>
          </a:xfrm>
          <a:prstGeom prst="line">
            <a:avLst/>
          </a:prstGeom>
          <a:noFill/>
          <a:ln w="12700">
            <a:solidFill>
              <a:srgbClr val="0288D1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5212080" y="2651760"/>
            <a:ext cx="1325880" cy="658368"/>
          </a:xfrm>
          <a:prstGeom prst="rect">
            <a:avLst/>
          </a:prstGeom>
          <a:solidFill>
            <a:srgbClr val="F5F5F5"/>
          </a:solidFill>
          <a:ln w="19050">
            <a:solidFill>
              <a:srgbClr val="388E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12080" y="2651760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Moisture ×2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Analog A0/A1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212080" y="2980944"/>
            <a:ext cx="-137160" cy="0"/>
          </a:xfrm>
          <a:prstGeom prst="line">
            <a:avLst/>
          </a:prstGeom>
          <a:noFill/>
          <a:ln w="12700">
            <a:solidFill>
              <a:srgbClr val="388E3C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5212080" y="3520440"/>
            <a:ext cx="1325880" cy="658368"/>
          </a:xfrm>
          <a:prstGeom prst="rect">
            <a:avLst/>
          </a:prstGeom>
          <a:solidFill>
            <a:srgbClr val="F5F5F5"/>
          </a:solidFill>
          <a:ln w="19050">
            <a:solidFill>
              <a:srgbClr val="F57F1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12080" y="3520440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HC-SR04 ×2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D6/D7 D8/D9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212080" y="3849624"/>
            <a:ext cx="-137160" cy="0"/>
          </a:xfrm>
          <a:prstGeom prst="line">
            <a:avLst/>
          </a:prstGeom>
          <a:noFill/>
          <a:ln w="12700">
            <a:solidFill>
              <a:srgbClr val="F57F17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6675120" y="914400"/>
            <a:ext cx="1325880" cy="658368"/>
          </a:xfrm>
          <a:prstGeom prst="rect">
            <a:avLst/>
          </a:prstGeom>
          <a:solidFill>
            <a:srgbClr val="F5F5F5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75120" y="914400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GPS NEO-6M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UART Pi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675120" y="1243584"/>
            <a:ext cx="-1600200" cy="0"/>
          </a:xfrm>
          <a:prstGeom prst="line">
            <a:avLst/>
          </a:prstGeom>
          <a:noFill/>
          <a:ln w="12700">
            <a:solidFill>
              <a:srgbClr val="C0392B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6675120" y="1783080"/>
            <a:ext cx="1325880" cy="658368"/>
          </a:xfrm>
          <a:prstGeom prst="rect">
            <a:avLst/>
          </a:prstGeom>
          <a:solidFill>
            <a:srgbClr val="F5F5F5"/>
          </a:solidFill>
          <a:ln w="19050">
            <a:solidFill>
              <a:srgbClr val="6A1A6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0" y="1783080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MPU-6050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I²C Pi 0x68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675120" y="2112264"/>
            <a:ext cx="-1600200" cy="0"/>
          </a:xfrm>
          <a:prstGeom prst="line">
            <a:avLst/>
          </a:prstGeom>
          <a:noFill/>
          <a:ln w="12700">
            <a:solidFill>
              <a:srgbClr val="6A1A6A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6675120" y="2651760"/>
            <a:ext cx="1325880" cy="658368"/>
          </a:xfrm>
          <a:prstGeom prst="rect">
            <a:avLst/>
          </a:prstGeom>
          <a:solidFill>
            <a:srgbClr val="F5F5F5"/>
          </a:solidFill>
          <a:ln w="19050">
            <a:solidFill>
              <a:srgbClr val="1A5C1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75120" y="2651760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Pi Camera v2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CSI Ribbon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675120" y="2980944"/>
            <a:ext cx="-1600200" cy="0"/>
          </a:xfrm>
          <a:prstGeom prst="line">
            <a:avLst/>
          </a:prstGeom>
          <a:noFill/>
          <a:ln w="12700">
            <a:solidFill>
              <a:srgbClr val="1A5C1A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6675120" y="3520440"/>
            <a:ext cx="1325880" cy="658368"/>
          </a:xfrm>
          <a:prstGeom prst="rect">
            <a:avLst/>
          </a:prstGeom>
          <a:solidFill>
            <a:srgbClr val="F5F5F5"/>
          </a:solidFill>
          <a:ln w="19050">
            <a:solidFill>
              <a:srgbClr val="42424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75120" y="3520440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LM393 Enc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D3·A2·A3·D11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675120" y="3849624"/>
            <a:ext cx="-1600200" cy="0"/>
          </a:xfrm>
          <a:prstGeom prst="line">
            <a:avLst/>
          </a:prstGeom>
          <a:noFill/>
          <a:ln w="12700">
            <a:solidFill>
              <a:srgbClr val="424242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182880" y="4617720"/>
            <a:ext cx="8778240" cy="384048"/>
          </a:xfrm>
          <a:prstGeom prst="rect">
            <a:avLst/>
          </a:prstGeom>
          <a:solidFill>
            <a:srgbClr val="E8F5E9"/>
          </a:solidFill>
          <a:ln w="12700">
            <a:solidFill>
              <a:srgbClr val="1A5C1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0040" y="461772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5C1A"/>
                </a:solidFill>
              </a:rPr>
              <a:t>Total BOM Cost: $195.40  ·  27 components  ·  Chassis: 4WD off-the-shelf  ·  All components available in Ghana  ·  Addresses cost gap [1][2][3][4]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7 / 12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27432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</a:rPr>
              <a:t>Smart Agro Rover  |  2026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C1A"/>
          </a:solidFill>
          <a:ln w="12700">
            <a:solidFill>
              <a:srgbClr val="1A5C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SENSOR SUITE — 7 SENSORS ADDRESSING GAP [3]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82880" y="804672"/>
            <a:ext cx="4297680" cy="749808"/>
          </a:xfrm>
          <a:prstGeom prst="rect">
            <a:avLst/>
          </a:prstGeom>
          <a:solidFill>
            <a:srgbClr val="F3E5F5"/>
          </a:solidFill>
          <a:ln w="19050">
            <a:solidFill>
              <a:srgbClr val="9C27B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804672"/>
            <a:ext cx="1280160" cy="749808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804672"/>
            <a:ext cx="1280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BME280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554480" y="804672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</a:rPr>
              <a:t>Air Temp · Humidity · Pressure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554480" y="1170432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I²C  0x76  A4/A5  ·  ±0.5°C  ±3%RH  ±1hPa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2880" y="1645920"/>
            <a:ext cx="4297680" cy="749808"/>
          </a:xfrm>
          <a:prstGeom prst="rect">
            <a:avLst/>
          </a:prstGeom>
          <a:solidFill>
            <a:srgbClr val="E1F5FE"/>
          </a:solidFill>
          <a:ln w="19050">
            <a:solidFill>
              <a:srgbClr val="0288D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880" y="1645920"/>
            <a:ext cx="1280160" cy="749808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12" name="Text 10"/>
          <p:cNvSpPr/>
          <p:nvPr/>
        </p:nvSpPr>
        <p:spPr>
          <a:xfrm>
            <a:off x="182880" y="1645920"/>
            <a:ext cx="1280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DS18B20 #1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554480" y="1645920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</a:rPr>
              <a:t>Soil Temperature Ch1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554480" y="2011680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1-Wire  D2  ·  −55 to +125°C  ±0.5°C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82880" y="2487168"/>
            <a:ext cx="4297680" cy="749808"/>
          </a:xfrm>
          <a:prstGeom prst="rect">
            <a:avLst/>
          </a:prstGeom>
          <a:solidFill>
            <a:srgbClr val="E1F5FE"/>
          </a:solidFill>
          <a:ln w="19050">
            <a:solidFill>
              <a:srgbClr val="0288D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" y="2487168"/>
            <a:ext cx="1280160" cy="749808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17" name="Text 15"/>
          <p:cNvSpPr/>
          <p:nvPr/>
        </p:nvSpPr>
        <p:spPr>
          <a:xfrm>
            <a:off x="182880" y="2487168"/>
            <a:ext cx="1280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DS18B20 #2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554480" y="2487168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</a:rPr>
              <a:t>Soil Temperature Ch2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554480" y="2852928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1-Wire  D2  ·  Both on same bus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82880" y="3328416"/>
            <a:ext cx="4297680" cy="749808"/>
          </a:xfrm>
          <a:prstGeom prst="rect">
            <a:avLst/>
          </a:prstGeom>
          <a:solidFill>
            <a:srgbClr val="E8F5E9"/>
          </a:solidFill>
          <a:ln w="19050">
            <a:solidFill>
              <a:srgbClr val="388E3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2880" y="3328416"/>
            <a:ext cx="1280160" cy="749808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" y="3328416"/>
            <a:ext cx="1280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Cap. Moisture #1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554480" y="3328416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</a:rPr>
              <a:t>Soil Moisture Ch1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554480" y="3694176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Analog  A0  ·  0–100%  capacitive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82880" y="4169664"/>
            <a:ext cx="4297680" cy="749808"/>
          </a:xfrm>
          <a:prstGeom prst="rect">
            <a:avLst/>
          </a:prstGeom>
          <a:solidFill>
            <a:srgbClr val="E8F5E9"/>
          </a:solidFill>
          <a:ln w="19050">
            <a:solidFill>
              <a:srgbClr val="388E3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2880" y="4169664"/>
            <a:ext cx="1280160" cy="749808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27" name="Text 25"/>
          <p:cNvSpPr/>
          <p:nvPr/>
        </p:nvSpPr>
        <p:spPr>
          <a:xfrm>
            <a:off x="182880" y="4169664"/>
            <a:ext cx="1280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Cap. Moisture #2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554480" y="4169664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</a:rPr>
              <a:t>Soil Moisture Ch2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554480" y="4535424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Analog  A1  ·  Corrosion-resistant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804672"/>
            <a:ext cx="4297680" cy="749808"/>
          </a:xfrm>
          <a:prstGeom prst="rect">
            <a:avLst/>
          </a:prstGeom>
          <a:solidFill>
            <a:srgbClr val="FFF8E1"/>
          </a:solidFill>
          <a:ln w="19050">
            <a:solidFill>
              <a:srgbClr val="F57F1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804672"/>
            <a:ext cx="1280160" cy="749808"/>
          </a:xfrm>
          <a:prstGeom prst="rect">
            <a:avLst/>
          </a:prstGeom>
          <a:solidFill>
            <a:srgbClr val="F57F17"/>
          </a:solidFill>
          <a:ln/>
        </p:spPr>
      </p:sp>
      <p:sp>
        <p:nvSpPr>
          <p:cNvPr id="32" name="Text 30"/>
          <p:cNvSpPr/>
          <p:nvPr/>
        </p:nvSpPr>
        <p:spPr>
          <a:xfrm>
            <a:off x="4663440" y="804672"/>
            <a:ext cx="1280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HC-SR04 Front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035040" y="804672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</a:rPr>
              <a:t>Obstacle Detection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035040" y="1170432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TRIG D6  ECHO D7  ·  2cm–400cm  ±3mm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1645920"/>
            <a:ext cx="4297680" cy="749808"/>
          </a:xfrm>
          <a:prstGeom prst="rect">
            <a:avLst/>
          </a:prstGeom>
          <a:solidFill>
            <a:srgbClr val="FFF8E1"/>
          </a:solidFill>
          <a:ln w="19050">
            <a:solidFill>
              <a:srgbClr val="F57F1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3440" y="1645920"/>
            <a:ext cx="1280160" cy="749808"/>
          </a:xfrm>
          <a:prstGeom prst="rect">
            <a:avLst/>
          </a:prstGeom>
          <a:solidFill>
            <a:srgbClr val="F57F17"/>
          </a:solidFill>
          <a:ln/>
        </p:spPr>
      </p:sp>
      <p:sp>
        <p:nvSpPr>
          <p:cNvPr id="37" name="Text 35"/>
          <p:cNvSpPr/>
          <p:nvPr/>
        </p:nvSpPr>
        <p:spPr>
          <a:xfrm>
            <a:off x="4663440" y="1645920"/>
            <a:ext cx="1280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HC-SR04 Rear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035040" y="1645920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</a:rPr>
              <a:t>Rear Clearance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035040" y="2011680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TRIG D8  ECHO D9  ·  Prevents reversing into crops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2487168"/>
            <a:ext cx="4297680" cy="749808"/>
          </a:xfrm>
          <a:prstGeom prst="rect">
            <a:avLst/>
          </a:prstGeom>
          <a:solidFill>
            <a:srgbClr val="FDECEA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63440" y="2487168"/>
            <a:ext cx="1280160" cy="7498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2" name="Text 40"/>
          <p:cNvSpPr/>
          <p:nvPr/>
        </p:nvSpPr>
        <p:spPr>
          <a:xfrm>
            <a:off x="4663440" y="2487168"/>
            <a:ext cx="1280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GPS NEO-6M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035040" y="2487168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</a:rPr>
              <a:t>Position + Bearing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035040" y="2852928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UART  /dev/ttyAMA0  ·  ±2m  9600 baud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663440" y="3328416"/>
            <a:ext cx="4297680" cy="749808"/>
          </a:xfrm>
          <a:prstGeom prst="rect">
            <a:avLst/>
          </a:prstGeom>
          <a:solidFill>
            <a:srgbClr val="F5E6F5"/>
          </a:solidFill>
          <a:ln w="19050">
            <a:solidFill>
              <a:srgbClr val="6A1A6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663440" y="3328416"/>
            <a:ext cx="1280160" cy="749808"/>
          </a:xfrm>
          <a:prstGeom prst="rect">
            <a:avLst/>
          </a:prstGeom>
          <a:solidFill>
            <a:srgbClr val="6A1A6A"/>
          </a:solidFill>
          <a:ln/>
        </p:spPr>
      </p:sp>
      <p:sp>
        <p:nvSpPr>
          <p:cNvPr id="47" name="Text 45"/>
          <p:cNvSpPr/>
          <p:nvPr/>
        </p:nvSpPr>
        <p:spPr>
          <a:xfrm>
            <a:off x="4663440" y="3328416"/>
            <a:ext cx="1280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MPU-6050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035040" y="3328416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</a:rPr>
              <a:t>Heading · Pitch · Roll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035040" y="3694176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I²C  0x68  Pi GPIO  ·  ±250°/s  ±2g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82880" y="4846320"/>
            <a:ext cx="8778240" cy="274320"/>
          </a:xfrm>
          <a:prstGeom prst="rect">
            <a:avLst/>
          </a:prstGeom>
          <a:solidFill>
            <a:srgbClr val="FFF8E1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56032" y="48463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A4000"/>
                </a:solidFill>
              </a:rPr>
              <a:t>[3] Levoir et al. 2022 — GPS+IMU validated for field navigation  ·  [5] Das et al. 2024 — Moisture+DS18B20 standard combination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8 / 12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27432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</a:rPr>
              <a:t>Smart Agro Rover  |  2026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C1A"/>
          </a:solidFill>
          <a:ln w="12700">
            <a:solidFill>
              <a:srgbClr val="1A5C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SOFTWARE ARCHITECTURE &amp; NAVIGATION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82880" y="804672"/>
            <a:ext cx="2926080" cy="4023360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22960"/>
            <a:ext cx="54864" cy="411480"/>
          </a:xfrm>
          <a:prstGeom prst="rect">
            <a:avLst/>
          </a:prstGeom>
          <a:solidFill>
            <a:srgbClr val="1A5C1A"/>
          </a:solidFill>
          <a:ln w="12700">
            <a:solidFill>
              <a:srgbClr val="1A5C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56" y="822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C1A"/>
                </a:solidFill>
              </a:rPr>
              <a:t>Boustrophedon Survey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298448"/>
            <a:ext cx="109728" cy="3291840"/>
          </a:xfrm>
          <a:prstGeom prst="rect">
            <a:avLst/>
          </a:prstGeom>
          <a:solidFill>
            <a:srgbClr val="2D7D2D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1298448"/>
            <a:ext cx="109728" cy="3291840"/>
          </a:xfrm>
          <a:prstGeom prst="rect">
            <a:avLst/>
          </a:prstGeom>
          <a:solidFill>
            <a:srgbClr val="2D7D2D"/>
          </a:solidFill>
          <a:ln/>
        </p:spPr>
      </p:sp>
      <p:sp>
        <p:nvSpPr>
          <p:cNvPr id="10" name="Shape 8"/>
          <p:cNvSpPr/>
          <p:nvPr/>
        </p:nvSpPr>
        <p:spPr>
          <a:xfrm>
            <a:off x="1234440" y="1298448"/>
            <a:ext cx="109728" cy="3291840"/>
          </a:xfrm>
          <a:prstGeom prst="rect">
            <a:avLst/>
          </a:prstGeom>
          <a:solidFill>
            <a:srgbClr val="2D7D2D"/>
          </a:solidFill>
          <a:ln/>
        </p:spPr>
      </p:sp>
      <p:sp>
        <p:nvSpPr>
          <p:cNvPr id="11" name="Shape 9"/>
          <p:cNvSpPr/>
          <p:nvPr/>
        </p:nvSpPr>
        <p:spPr>
          <a:xfrm>
            <a:off x="1600200" y="1298448"/>
            <a:ext cx="109728" cy="3291840"/>
          </a:xfrm>
          <a:prstGeom prst="rect">
            <a:avLst/>
          </a:prstGeom>
          <a:solidFill>
            <a:srgbClr val="2D7D2D"/>
          </a:solidFill>
          <a:ln/>
        </p:spPr>
      </p:sp>
      <p:sp>
        <p:nvSpPr>
          <p:cNvPr id="12" name="Shape 10"/>
          <p:cNvSpPr/>
          <p:nvPr/>
        </p:nvSpPr>
        <p:spPr>
          <a:xfrm>
            <a:off x="1965960" y="1298448"/>
            <a:ext cx="109728" cy="3291840"/>
          </a:xfrm>
          <a:prstGeom prst="rect">
            <a:avLst/>
          </a:prstGeom>
          <a:solidFill>
            <a:srgbClr val="2D7D2D"/>
          </a:solidFill>
          <a:ln/>
        </p:spPr>
      </p:sp>
      <p:sp>
        <p:nvSpPr>
          <p:cNvPr id="13" name="Shape 11"/>
          <p:cNvSpPr/>
          <p:nvPr/>
        </p:nvSpPr>
        <p:spPr>
          <a:xfrm>
            <a:off x="2331720" y="1298448"/>
            <a:ext cx="109728" cy="3291840"/>
          </a:xfrm>
          <a:prstGeom prst="rect">
            <a:avLst/>
          </a:prstGeom>
          <a:solidFill>
            <a:srgbClr val="2D7D2D"/>
          </a:solidFill>
          <a:ln/>
        </p:spPr>
      </p:sp>
      <p:sp>
        <p:nvSpPr>
          <p:cNvPr id="14" name="Shape 12"/>
          <p:cNvSpPr/>
          <p:nvPr/>
        </p:nvSpPr>
        <p:spPr>
          <a:xfrm>
            <a:off x="2697480" y="1298448"/>
            <a:ext cx="109728" cy="3291840"/>
          </a:xfrm>
          <a:prstGeom prst="rect">
            <a:avLst/>
          </a:prstGeom>
          <a:solidFill>
            <a:srgbClr val="2D7D2D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1463040"/>
            <a:ext cx="914" cy="2926080"/>
          </a:xfrm>
          <a:prstGeom prst="line">
            <a:avLst/>
          </a:prstGeom>
          <a:noFill/>
          <a:ln w="31750">
            <a:solidFill>
              <a:srgbClr val="D4A01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1463040"/>
            <a:ext cx="411480" cy="914"/>
          </a:xfrm>
          <a:prstGeom prst="line">
            <a:avLst/>
          </a:prstGeom>
          <a:noFill/>
          <a:ln w="31750">
            <a:solidFill>
              <a:srgbClr val="D4A01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1463040"/>
            <a:ext cx="914" cy="2926080"/>
          </a:xfrm>
          <a:prstGeom prst="line">
            <a:avLst/>
          </a:prstGeom>
          <a:noFill/>
          <a:ln w="31750">
            <a:solidFill>
              <a:srgbClr val="D4A01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4389120"/>
            <a:ext cx="365760" cy="914"/>
          </a:xfrm>
          <a:prstGeom prst="line">
            <a:avLst/>
          </a:prstGeom>
          <a:noFill/>
          <a:ln w="31750">
            <a:solidFill>
              <a:srgbClr val="D4A01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17320" y="1463040"/>
            <a:ext cx="914" cy="2926080"/>
          </a:xfrm>
          <a:prstGeom prst="line">
            <a:avLst/>
          </a:prstGeom>
          <a:noFill/>
          <a:ln w="31750">
            <a:solidFill>
              <a:srgbClr val="D4A01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17320" y="1463040"/>
            <a:ext cx="365760" cy="914"/>
          </a:xfrm>
          <a:prstGeom prst="line">
            <a:avLst/>
          </a:prstGeom>
          <a:noFill/>
          <a:ln w="31750">
            <a:solidFill>
              <a:srgbClr val="D4A01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83080" y="1463040"/>
            <a:ext cx="914" cy="2926080"/>
          </a:xfrm>
          <a:prstGeom prst="line">
            <a:avLst/>
          </a:prstGeom>
          <a:noFill/>
          <a:ln w="31750">
            <a:solidFill>
              <a:srgbClr val="D4A01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783080" y="4389120"/>
            <a:ext cx="365760" cy="914"/>
          </a:xfrm>
          <a:prstGeom prst="line">
            <a:avLst/>
          </a:prstGeom>
          <a:noFill/>
          <a:ln w="31750">
            <a:solidFill>
              <a:srgbClr val="D4A01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48840" y="1463040"/>
            <a:ext cx="914" cy="2926080"/>
          </a:xfrm>
          <a:prstGeom prst="line">
            <a:avLst/>
          </a:prstGeom>
          <a:noFill/>
          <a:ln w="31750">
            <a:solidFill>
              <a:srgbClr val="D4A01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148840" y="1463040"/>
            <a:ext cx="365760" cy="914"/>
          </a:xfrm>
          <a:prstGeom prst="line">
            <a:avLst/>
          </a:prstGeom>
          <a:noFill/>
          <a:ln w="31750">
            <a:solidFill>
              <a:srgbClr val="D4A01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77440" y="1188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7200" y="43434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0392B"/>
                </a:solidFill>
              </a:rPr>
              <a:t>🏁 WP1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20040" y="464515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55555"/>
                </a:solidFill>
              </a:rPr>
              <a:t>Crop rows →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91840" y="804672"/>
            <a:ext cx="5623560" cy="4023360"/>
          </a:xfrm>
          <a:prstGeom prst="rect">
            <a:avLst/>
          </a:prstGeom>
          <a:solidFill>
            <a:srgbClr val="F0FAF0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29000" y="822960"/>
            <a:ext cx="54864" cy="411480"/>
          </a:xfrm>
          <a:prstGeom prst="rect">
            <a:avLst/>
          </a:prstGeom>
          <a:solidFill>
            <a:srgbClr val="1A5C1A"/>
          </a:solidFill>
          <a:ln w="12700">
            <a:solidFill>
              <a:srgbClr val="1A5C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57016" y="822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C1A"/>
                </a:solidFill>
              </a:rPr>
              <a:t>Data &amp; Mission Pipeline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429000" y="1353312"/>
            <a:ext cx="292608" cy="29260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32" name="Text 30"/>
          <p:cNvSpPr/>
          <p:nvPr/>
        </p:nvSpPr>
        <p:spPr>
          <a:xfrm>
            <a:off x="3429000" y="1353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794760" y="129844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</a:rPr>
              <a:t>Arduino samples sensors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794760" y="155448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32ms — BME280, DS18B20, HC-SR04, Moisture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429000" y="1856232"/>
            <a:ext cx="292608" cy="29260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36" name="Text 34"/>
          <p:cNvSpPr/>
          <p:nvPr/>
        </p:nvSpPr>
        <p:spPr>
          <a:xfrm>
            <a:off x="3429000" y="1856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794760" y="180136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</a:rPr>
              <a:t>JSON broadcast to Pi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794760" y="205740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115200 baud · /dev/ttyUSB0 · 500ms interval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429000" y="2359152"/>
            <a:ext cx="292608" cy="292608"/>
          </a:xfrm>
          <a:prstGeom prst="ellipse">
            <a:avLst/>
          </a:prstGeom>
          <a:solidFill>
            <a:srgbClr val="1A5C1A"/>
          </a:solidFill>
          <a:ln/>
        </p:spPr>
      </p:sp>
      <p:sp>
        <p:nvSpPr>
          <p:cNvPr id="40" name="Text 38"/>
          <p:cNvSpPr/>
          <p:nvPr/>
        </p:nvSpPr>
        <p:spPr>
          <a:xfrm>
            <a:off x="3429000" y="23591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794760" y="230428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5C1A"/>
                </a:solidFill>
              </a:rPr>
              <a:t>Pi parses + routes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3794760" y="256032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serial_handler.py → sensor_hub.py — data stored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429000" y="2862072"/>
            <a:ext cx="292608" cy="292608"/>
          </a:xfrm>
          <a:prstGeom prst="ellipse">
            <a:avLst/>
          </a:prstGeom>
          <a:solidFill>
            <a:srgbClr val="1A5C1A"/>
          </a:solidFill>
          <a:ln/>
        </p:spPr>
      </p:sp>
      <p:sp>
        <p:nvSpPr>
          <p:cNvPr id="44" name="Text 42"/>
          <p:cNvSpPr/>
          <p:nvPr/>
        </p:nvSpPr>
        <p:spPr>
          <a:xfrm>
            <a:off x="3429000" y="28620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794760" y="280720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5C1A"/>
                </a:solidFill>
              </a:rPr>
              <a:t>GPS + IMU navigation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3794760" y="306324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waypoint_nav.py — Haversine bearing, boustrophedon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429000" y="3364992"/>
            <a:ext cx="292608" cy="2926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8" name="Text 46"/>
          <p:cNvSpPr/>
          <p:nvPr/>
        </p:nvSpPr>
        <p:spPr>
          <a:xfrm>
            <a:off x="3429000" y="3364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794760" y="331012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</a:rPr>
              <a:t>Obstacle check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3794760" y="356616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us_front &lt; 20cm → estop + avoidance manoeuvre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429000" y="3867912"/>
            <a:ext cx="292608" cy="292608"/>
          </a:xfrm>
          <a:prstGeom prst="ellipse">
            <a:avLst/>
          </a:prstGeom>
          <a:solidFill>
            <a:srgbClr val="2D7D2D"/>
          </a:solidFill>
          <a:ln/>
        </p:spPr>
      </p:sp>
      <p:sp>
        <p:nvSpPr>
          <p:cNvPr id="52" name="Text 50"/>
          <p:cNvSpPr/>
          <p:nvPr/>
        </p:nvSpPr>
        <p:spPr>
          <a:xfrm>
            <a:off x="3429000" y="3867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3794760" y="381304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7D2D"/>
                </a:solidFill>
              </a:rPr>
              <a:t>Data pipeline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3794760" y="406908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data_pipeline.py → CSV + SQLite with lat/lon tag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429000" y="4370832"/>
            <a:ext cx="292608" cy="292608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56" name="Text 54"/>
          <p:cNvSpPr/>
          <p:nvPr/>
        </p:nvSpPr>
        <p:spPr>
          <a:xfrm>
            <a:off x="3429000" y="43708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3794760" y="431596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017"/>
                </a:solidFill>
              </a:rPr>
              <a:t>Dashboard update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3794760" y="457200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Flask app.py pushes live data to localhost:5000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291840" y="4846320"/>
            <a:ext cx="5623560" cy="274320"/>
          </a:xfrm>
          <a:prstGeom prst="rect">
            <a:avLst/>
          </a:prstGeom>
          <a:solidFill>
            <a:srgbClr val="FFF8E1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364992" y="4846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A4000"/>
                </a:solidFill>
              </a:rPr>
              <a:t>[3] Levoir et al. 2022 — Haversine nav algorithm  ·  [4] Hernanda et al. 2024 — Serial pipeline at 10 Hz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9 / 12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27432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</a:rPr>
              <a:t>Smart Agro Rover  |  2026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C1A"/>
          </a:solidFill>
          <a:ln w="12700">
            <a:solidFill>
              <a:srgbClr val="1A5C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SIMULATION &amp; VALIDATION — 207 TESTS PASSING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82880" y="804672"/>
            <a:ext cx="2834640" cy="4160520"/>
          </a:xfrm>
          <a:prstGeom prst="rect">
            <a:avLst/>
          </a:prstGeom>
          <a:solidFill>
            <a:srgbClr val="E1F5FE"/>
          </a:solidFill>
          <a:ln w="19050">
            <a:solidFill>
              <a:srgbClr val="0277B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804672"/>
            <a:ext cx="2834640" cy="658368"/>
          </a:xfrm>
          <a:prstGeom prst="rect">
            <a:avLst/>
          </a:prstGeom>
          <a:solidFill>
            <a:srgbClr val="0277BD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8046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⚡  Wokwi Simulation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74320" y="1170432"/>
            <a:ext cx="265176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0277BD"/>
                </a:solidFill>
              </a:rPr>
              <a:t>Arduino Layer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92608" y="1554480"/>
            <a:ext cx="182880" cy="182880"/>
          </a:xfrm>
          <a:prstGeom prst="ellipse">
            <a:avLst/>
          </a:prstGeom>
          <a:solidFill>
            <a:srgbClr val="0277BD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53619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Arduino Nano firmware in browser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92608" y="1993392"/>
            <a:ext cx="182880" cy="182880"/>
          </a:xfrm>
          <a:prstGeom prst="ellipse">
            <a:avLst/>
          </a:prstGeom>
          <a:solidFill>
            <a:srgbClr val="0277BD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97510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DS18B20, BME280, HC-SR04 simulated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92608" y="2432304"/>
            <a:ext cx="182880" cy="182880"/>
          </a:xfrm>
          <a:prstGeom prst="ellipse">
            <a:avLst/>
          </a:prstGeom>
          <a:solidFill>
            <a:srgbClr val="0277BD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1401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Potentiometers simulate soil moisture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92608" y="2871216"/>
            <a:ext cx="182880" cy="182880"/>
          </a:xfrm>
          <a:prstGeom prst="ellipse">
            <a:avLst/>
          </a:prstGeom>
          <a:solidFill>
            <a:srgbClr val="0277BD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5292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Red/green LEDs for motor state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92608" y="3310128"/>
            <a:ext cx="182880" cy="182880"/>
          </a:xfrm>
          <a:prstGeom prst="ellipse">
            <a:avLst/>
          </a:prstGeom>
          <a:solidFill>
            <a:srgbClr val="0277BD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9184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Push buttons: E-Stop + Reset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92608" y="3749040"/>
            <a:ext cx="182880" cy="182880"/>
          </a:xfrm>
          <a:prstGeom prst="ellipse">
            <a:avLst/>
          </a:prstGeom>
          <a:solidFill>
            <a:srgbClr val="0277BD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73075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Serial Monitor: live JSON packets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92608" y="4187952"/>
            <a:ext cx="182880" cy="182880"/>
          </a:xfrm>
          <a:prstGeom prst="ellipse">
            <a:avLst/>
          </a:prstGeom>
          <a:solidFill>
            <a:srgbClr val="0277BD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16966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58 Arduino unit tests passing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172968" y="804672"/>
            <a:ext cx="2834640" cy="4160520"/>
          </a:xfrm>
          <a:prstGeom prst="rect">
            <a:avLst/>
          </a:prstGeom>
          <a:solidFill>
            <a:srgbClr val="E8F5E9"/>
          </a:solidFill>
          <a:ln w="19050">
            <a:solidFill>
              <a:srgbClr val="1A5C1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72968" y="804672"/>
            <a:ext cx="2834640" cy="658368"/>
          </a:xfrm>
          <a:prstGeom prst="rect">
            <a:avLst/>
          </a:prstGeom>
          <a:solidFill>
            <a:srgbClr val="1A5C1A"/>
          </a:solidFill>
          <a:ln/>
        </p:spPr>
      </p:sp>
      <p:sp>
        <p:nvSpPr>
          <p:cNvPr id="25" name="Text 23"/>
          <p:cNvSpPr/>
          <p:nvPr/>
        </p:nvSpPr>
        <p:spPr>
          <a:xfrm>
            <a:off x="3264408" y="8046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🌱  Webots Simulation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264408" y="1170432"/>
            <a:ext cx="265176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5C1A"/>
                </a:solidFill>
              </a:rPr>
              <a:t>Full 3D Field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82696" y="1554480"/>
            <a:ext cx="182880" cy="182880"/>
          </a:xfrm>
          <a:prstGeom prst="ellipse">
            <a:avLst/>
          </a:prstGeom>
          <a:solidFill>
            <a:srgbClr val="1A5C1A"/>
          </a:solidFill>
          <a:ln/>
        </p:spPr>
      </p:sp>
      <p:sp>
        <p:nvSpPr>
          <p:cNvPr id="28" name="Text 26"/>
          <p:cNvSpPr/>
          <p:nvPr/>
        </p:nvSpPr>
        <p:spPr>
          <a:xfrm>
            <a:off x="3538728" y="153619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Clearpath Moose 4WD chassis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82696" y="1993392"/>
            <a:ext cx="182880" cy="182880"/>
          </a:xfrm>
          <a:prstGeom prst="ellipse">
            <a:avLst/>
          </a:prstGeom>
          <a:solidFill>
            <a:srgbClr val="1A5C1A"/>
          </a:solidFill>
          <a:ln/>
        </p:spPr>
      </p:sp>
      <p:sp>
        <p:nvSpPr>
          <p:cNvPr id="30" name="Text 28"/>
          <p:cNvSpPr/>
          <p:nvPr/>
        </p:nvSpPr>
        <p:spPr>
          <a:xfrm>
            <a:off x="3538728" y="197510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50m × 50m farm field with 5 crop rows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82696" y="2432304"/>
            <a:ext cx="182880" cy="182880"/>
          </a:xfrm>
          <a:prstGeom prst="ellipse">
            <a:avLst/>
          </a:prstGeom>
          <a:solidFill>
            <a:srgbClr val="1A5C1A"/>
          </a:solidFill>
          <a:ln/>
        </p:spPr>
      </p:sp>
      <p:sp>
        <p:nvSpPr>
          <p:cNvPr id="32" name="Text 30"/>
          <p:cNvSpPr/>
          <p:nvPr/>
        </p:nvSpPr>
        <p:spPr>
          <a:xfrm>
            <a:off x="3538728" y="241401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9 GPS waypoints, boustrophedon path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82696" y="2871216"/>
            <a:ext cx="182880" cy="182880"/>
          </a:xfrm>
          <a:prstGeom prst="ellipse">
            <a:avLst/>
          </a:prstGeom>
          <a:solidFill>
            <a:srgbClr val="1A5C1A"/>
          </a:solidFill>
          <a:ln/>
        </p:spPr>
      </p:sp>
      <p:sp>
        <p:nvSpPr>
          <p:cNvPr id="34" name="Text 32"/>
          <p:cNvSpPr/>
          <p:nvPr/>
        </p:nvSpPr>
        <p:spPr>
          <a:xfrm>
            <a:off x="3538728" y="285292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Cardboard box obstacles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82696" y="3310128"/>
            <a:ext cx="182880" cy="182880"/>
          </a:xfrm>
          <a:prstGeom prst="ellipse">
            <a:avLst/>
          </a:prstGeom>
          <a:solidFill>
            <a:srgbClr val="1A5C1A"/>
          </a:solidFill>
          <a:ln/>
        </p:spPr>
      </p:sp>
      <p:sp>
        <p:nvSpPr>
          <p:cNvPr id="36" name="Text 34"/>
          <p:cNvSpPr/>
          <p:nvPr/>
        </p:nvSpPr>
        <p:spPr>
          <a:xfrm>
            <a:off x="3538728" y="329184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GPS, IMU, Camera, 2× Ultrasonic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82696" y="3749040"/>
            <a:ext cx="182880" cy="182880"/>
          </a:xfrm>
          <a:prstGeom prst="ellipse">
            <a:avLst/>
          </a:prstGeom>
          <a:solidFill>
            <a:srgbClr val="1A5C1A"/>
          </a:solidFill>
          <a:ln/>
        </p:spPr>
      </p:sp>
      <p:sp>
        <p:nvSpPr>
          <p:cNvPr id="38" name="Text 36"/>
          <p:cNvSpPr/>
          <p:nvPr/>
        </p:nvSpPr>
        <p:spPr>
          <a:xfrm>
            <a:off x="3538728" y="373075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Console: live dashboard + JSON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282696" y="4187952"/>
            <a:ext cx="182880" cy="182880"/>
          </a:xfrm>
          <a:prstGeom prst="ellipse">
            <a:avLst/>
          </a:prstGeom>
          <a:solidFill>
            <a:srgbClr val="1A5C1A"/>
          </a:solidFill>
          <a:ln/>
        </p:spPr>
      </p:sp>
      <p:sp>
        <p:nvSpPr>
          <p:cNvPr id="40" name="Text 38"/>
          <p:cNvSpPr/>
          <p:nvPr/>
        </p:nvSpPr>
        <p:spPr>
          <a:xfrm>
            <a:off x="3538728" y="416966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75 Pi software tests passing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163056" y="804672"/>
            <a:ext cx="2834640" cy="4160520"/>
          </a:xfrm>
          <a:prstGeom prst="rect">
            <a:avLst/>
          </a:prstGeom>
          <a:solidFill>
            <a:srgbClr val="FFF8E1"/>
          </a:solidFill>
          <a:ln w="19050">
            <a:solidFill>
              <a:srgbClr val="D4A01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63056" y="804672"/>
            <a:ext cx="2834640" cy="65836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3" name="Text 41"/>
          <p:cNvSpPr/>
          <p:nvPr/>
        </p:nvSpPr>
        <p:spPr>
          <a:xfrm>
            <a:off x="6254496" y="8046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✅  Automated Test Suite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6254496" y="1170432"/>
            <a:ext cx="265176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D4A017"/>
                </a:solidFill>
              </a:rPr>
              <a:t>All Layers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272784" y="1554480"/>
            <a:ext cx="182880" cy="18288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46" name="Text 44"/>
          <p:cNvSpPr/>
          <p:nvPr/>
        </p:nvSpPr>
        <p:spPr>
          <a:xfrm>
            <a:off x="6528816" y="153619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58 Arduino firmware tests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272784" y="1993392"/>
            <a:ext cx="182880" cy="18288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48" name="Text 46"/>
          <p:cNvSpPr/>
          <p:nvPr/>
        </p:nvSpPr>
        <p:spPr>
          <a:xfrm>
            <a:off x="6528816" y="197510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75 Raspberry Pi software tests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272784" y="2432304"/>
            <a:ext cx="182880" cy="18288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50" name="Text 48"/>
          <p:cNvSpPr/>
          <p:nvPr/>
        </p:nvSpPr>
        <p:spPr>
          <a:xfrm>
            <a:off x="6528816" y="241401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74 integration tests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272784" y="2871216"/>
            <a:ext cx="182880" cy="18288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52" name="Text 50"/>
          <p:cNvSpPr/>
          <p:nvPr/>
        </p:nvSpPr>
        <p:spPr>
          <a:xfrm>
            <a:off x="6528816" y="285292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207 total — all passing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272784" y="3310128"/>
            <a:ext cx="182880" cy="18288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54" name="Text 52"/>
          <p:cNvSpPr/>
          <p:nvPr/>
        </p:nvSpPr>
        <p:spPr>
          <a:xfrm>
            <a:off x="6528816" y="329184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PC vision testing: 5 layers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272784" y="3749040"/>
            <a:ext cx="182880" cy="18288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56" name="Text 54"/>
          <p:cNvSpPr/>
          <p:nvPr/>
        </p:nvSpPr>
        <p:spPr>
          <a:xfrm>
            <a:off x="6528816" y="373075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Sensor test suite: 6 layers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272784" y="4187952"/>
            <a:ext cx="182880" cy="18288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58" name="Text 56"/>
          <p:cNvSpPr/>
          <p:nvPr/>
        </p:nvSpPr>
        <p:spPr>
          <a:xfrm>
            <a:off x="6528816" y="416966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Validate before physical build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10 / 12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27432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</a:rPr>
              <a:t>Smart Agro Rover  |  2026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C1A"/>
          </a:solidFill>
          <a:ln w="12700">
            <a:solidFill>
              <a:srgbClr val="1A5C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DASHBOARD &amp; SYSTEM RESULTS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82880" y="822960"/>
            <a:ext cx="5120640" cy="3474720"/>
          </a:xfrm>
          <a:prstGeom prst="rect">
            <a:avLst/>
          </a:prstGeom>
          <a:solidFill>
            <a:srgbClr val="0A1A0A"/>
          </a:solidFill>
          <a:ln w="25400">
            <a:solidFill>
              <a:srgbClr val="1A5C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7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🌱  AGROROVER DASHBOARD  ·  localhost:5000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35331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6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SOIL MOISTURE CH1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0" y="135331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7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68.4%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0040" y="162763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6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SOIL MOISTURE CH2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0" y="162763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7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71.2%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0040" y="190195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6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SOIL TEMP CH1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43200" y="190195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A0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24.3°C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0040" y="217627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6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 TEMPERATURE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0" y="217627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A0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28.7°C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0040" y="245059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6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HUMIDITY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43200" y="245059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64.2% RH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20040" y="272491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6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PRESSURE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43200" y="272491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1012.0 hPa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20040" y="299923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6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OBSTACLE DIST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43200" y="299923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7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382 cm ✅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20040" y="327355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6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GPS POSITION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43200" y="327355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5.6039°N 0.1875°W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20040" y="354787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6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743200" y="354787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89.3° EAST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20040" y="382219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6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MISSION STATUS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43200" y="382219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A0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SURVEY WP 3/9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0" y="822960"/>
            <a:ext cx="3474720" cy="3474720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23560" y="841248"/>
            <a:ext cx="54864" cy="411480"/>
          </a:xfrm>
          <a:prstGeom prst="rect">
            <a:avLst/>
          </a:prstGeom>
          <a:solidFill>
            <a:srgbClr val="1A5C1A"/>
          </a:solidFill>
          <a:ln w="12700">
            <a:solidFill>
              <a:srgbClr val="1A5C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51576" y="84124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C1A"/>
                </a:solidFill>
              </a:rPr>
              <a:t>System Performance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623560" y="1298448"/>
            <a:ext cx="155448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A5C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23560" y="129844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5C1A"/>
                </a:solidFill>
              </a:rPr>
              <a:t>207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623560" y="177393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Tests Passing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315200" y="1298448"/>
            <a:ext cx="155448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2D7D2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0" y="129844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7D2D"/>
                </a:solidFill>
              </a:rPr>
              <a:t>$195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315200" y="177393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Total Cost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623560" y="2258568"/>
            <a:ext cx="155448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23560" y="225856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65C0"/>
                </a:solidFill>
              </a:rPr>
              <a:t>9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5623560" y="273405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Waypoints Surveyed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(Webots sim)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315200" y="2258568"/>
            <a:ext cx="155448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D4A01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0" y="225856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017"/>
                </a:solidFill>
              </a:rPr>
              <a:t>7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7315200" y="273405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Sensors Integrated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623560" y="3218688"/>
            <a:ext cx="155448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277B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23560" y="321868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77BD"/>
                </a:solidFill>
              </a:rPr>
              <a:t>2Hz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5623560" y="369417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Sensor Broadcast Rate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315200" y="3218688"/>
            <a:ext cx="155448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8888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15200" y="321868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88888"/>
                </a:solidFill>
              </a:rPr>
              <a:t>115200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7315200" y="369417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Serial Baud Rate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11 / 12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7432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</a:rPr>
              <a:t>Smart Agro Rover  |  2026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E0D"/>
          </a:solidFill>
          <a:ln w="12700">
            <a:solidFill>
              <a:srgbClr val="0D2E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C1A"/>
          </a:solidFill>
          <a:ln w="12700">
            <a:solidFill>
              <a:srgbClr val="1A5C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SUMMARY — CLOSING THE RESEARCH GAP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868680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7772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Problem: 33M+ African smallholder farmers lack affordable, autonomous soil monitoring — current solutions cost $500–$20,000+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1371600"/>
            <a:ext cx="4160520" cy="3429000"/>
          </a:xfrm>
          <a:prstGeom prst="rect">
            <a:avLst/>
          </a:prstGeom>
          <a:solidFill>
            <a:srgbClr val="0D3A0D"/>
          </a:solidFill>
          <a:ln w="12700">
            <a:solidFill>
              <a:srgbClr val="2D7D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173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017"/>
                </a:solidFill>
              </a:rPr>
              <a:t>✅  What We Achieved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4048" y="1874520"/>
            <a:ext cx="182880" cy="182880"/>
          </a:xfrm>
          <a:prstGeom prst="ellipse">
            <a:avLst/>
          </a:prstGeom>
          <a:solidFill>
            <a:srgbClr val="2D7D2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85623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EECC"/>
                </a:solidFill>
              </a:rPr>
              <a:t>Autonomous 4WD rover — under $200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4048" y="2231136"/>
            <a:ext cx="182880" cy="182880"/>
          </a:xfrm>
          <a:prstGeom prst="ellipse">
            <a:avLst/>
          </a:prstGeom>
          <a:solidFill>
            <a:srgbClr val="2D7D2D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21284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EECC"/>
                </a:solidFill>
              </a:rPr>
              <a:t>GPS boustrophedon waypoint navigation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048" y="2587752"/>
            <a:ext cx="182880" cy="182880"/>
          </a:xfrm>
          <a:prstGeom prst="ellipse">
            <a:avLst/>
          </a:prstGeom>
          <a:solidFill>
            <a:srgbClr val="2D7D2D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56946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EECC"/>
                </a:solidFill>
              </a:rPr>
              <a:t>7-sensor payload (soil + air + vision + nav)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4048" y="2944368"/>
            <a:ext cx="182880" cy="182880"/>
          </a:xfrm>
          <a:prstGeom prst="ellipse">
            <a:avLst/>
          </a:prstGeom>
          <a:solidFill>
            <a:srgbClr val="2D7D2D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92608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EECC"/>
                </a:solidFill>
              </a:rPr>
              <a:t>Dual-controller architecture (Pi + Arduino)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" y="3300984"/>
            <a:ext cx="182880" cy="182880"/>
          </a:xfrm>
          <a:prstGeom prst="ellipse">
            <a:avLst/>
          </a:prstGeom>
          <a:solidFill>
            <a:srgbClr val="2D7D2D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28269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EECC"/>
                </a:solidFill>
              </a:rPr>
              <a:t>Offline Flask dashboard — no internet needed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84048" y="3657600"/>
            <a:ext cx="182880" cy="182880"/>
          </a:xfrm>
          <a:prstGeom prst="ellipse">
            <a:avLst/>
          </a:prstGeom>
          <a:solidFill>
            <a:srgbClr val="2D7D2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63931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EECC"/>
                </a:solidFill>
              </a:rPr>
              <a:t>207 automated tests — all passing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84048" y="4014216"/>
            <a:ext cx="182880" cy="182880"/>
          </a:xfrm>
          <a:prstGeom prst="ellipse">
            <a:avLst/>
          </a:prstGeom>
          <a:solidFill>
            <a:srgbClr val="2D7D2D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99592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EECC"/>
                </a:solidFill>
              </a:rPr>
              <a:t>Wokwi + Webots simulation validated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84048" y="4370832"/>
            <a:ext cx="182880" cy="182880"/>
          </a:xfrm>
          <a:prstGeom prst="ellipse">
            <a:avLst/>
          </a:prstGeom>
          <a:solidFill>
            <a:srgbClr val="2D7D2D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35254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EECC"/>
                </a:solidFill>
              </a:rPr>
              <a:t>Georeferenced soil data pipeline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17720" y="1371600"/>
            <a:ext cx="4297680" cy="1645920"/>
          </a:xfrm>
          <a:prstGeom prst="rect">
            <a:avLst/>
          </a:prstGeom>
          <a:solidFill>
            <a:srgbClr val="0D3A0D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1417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017"/>
                </a:solidFill>
              </a:rPr>
              <a:t>⚡  Gaps Addressed [1][2][3][4][5]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54880" y="1828800"/>
            <a:ext cx="4023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EECC"/>
                </a:solidFill>
              </a:rPr>
              <a:t>→ Cost: $195 vs $500–$20,000 in literature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54880" y="2075688"/>
            <a:ext cx="4023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EECC"/>
                </a:solidFill>
              </a:rPr>
              <a:t>→ No ROS: pure Python on Raspberry Pi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54880" y="2322576"/>
            <a:ext cx="4023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EECC"/>
                </a:solidFill>
              </a:rPr>
              <a:t>→ Offline: SQLite + Flask, no cloud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54880" y="2569464"/>
            <a:ext cx="4023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EECC"/>
                </a:solidFill>
              </a:rPr>
              <a:t>→ Sensor + nav: both in one system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54880" y="2816352"/>
            <a:ext cx="4023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EECC"/>
                </a:solidFill>
              </a:rPr>
              <a:t>→ African context: small plot, low-cost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17720" y="3154680"/>
            <a:ext cx="4297680" cy="1691640"/>
          </a:xfrm>
          <a:prstGeom prst="rect">
            <a:avLst/>
          </a:prstGeom>
          <a:solidFill>
            <a:srgbClr val="0D3A0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32004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AAFF"/>
                </a:solidFill>
              </a:rPr>
              <a:t>🔭  Future Work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754880" y="3584448"/>
            <a:ext cx="4023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FF"/>
                </a:solidFill>
              </a:rPr>
              <a:t>→ Phase 10-12: Physical build + field trial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54880" y="3831336"/>
            <a:ext cx="4023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FF"/>
                </a:solidFill>
              </a:rPr>
              <a:t>→ YOLOv5 crop disease detection [5]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54880" y="4078224"/>
            <a:ext cx="4023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FF"/>
                </a:solidFill>
              </a:rPr>
              <a:t>→ Solar charging for extended runtime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54880" y="4325112"/>
            <a:ext cx="4023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FF"/>
                </a:solidFill>
              </a:rPr>
              <a:t>→ ROS 2 migration for Nav2 stack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54880" y="4572000"/>
            <a:ext cx="4023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FF"/>
                </a:solidFill>
              </a:rPr>
              <a:t>→ Multi-rover mesh network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12 / 12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7432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</a:rPr>
              <a:t>Smart Agro Rover  |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Agro Rover — Defense Presentation</dc:title>
  <dc:subject>PptxGenJS Presentation</dc:subject>
  <dc:creator>AgroRover Team</dc:creator>
  <cp:lastModifiedBy>AgroRover Team</cp:lastModifiedBy>
  <cp:revision>1</cp:revision>
  <dcterms:created xsi:type="dcterms:W3CDTF">2026-03-30T01:08:17Z</dcterms:created>
  <dcterms:modified xsi:type="dcterms:W3CDTF">2026-03-30T01:08:17Z</dcterms:modified>
</cp:coreProperties>
</file>